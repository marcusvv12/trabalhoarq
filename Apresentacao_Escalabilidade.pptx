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02920" cy="6858000"/>
          </a:xfrm>
          <a:prstGeom prst="rect">
            <a:avLst/>
          </a:prstGeom>
          <a:solidFill>
            <a:srgbClr val="21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0"/>
            <a:ext cx="54864" cy="6858000"/>
          </a:xfrm>
          <a:prstGeom prst="rect">
            <a:avLst/>
          </a:prstGeom>
          <a:solidFill>
            <a:srgbClr val="3D9B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035040"/>
            <a:ext cx="12188952" cy="822960"/>
          </a:xfrm>
          <a:prstGeom prst="rect">
            <a:avLst/>
          </a:prstGeom>
          <a:solidFill>
            <a:srgbClr val="071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28016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Escalabilidade Horizontal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945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3D9BE8"/>
                </a:solidFill>
                <a:latin typeface="Calibri"/>
              </a:rPr>
              <a:t>e Balanceamento de Carga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2461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CCDDF0"/>
                </a:solidFill>
                <a:latin typeface="Calibri"/>
              </a:rPr>
              <a:t>API Academica com Node.js, NGINX e PostgreSQL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3977639"/>
            <a:ext cx="5029200" cy="45720"/>
          </a:xfrm>
          <a:prstGeom prst="rect">
            <a:avLst/>
          </a:prstGeom>
          <a:solidFill>
            <a:srgbClr val="3D9B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4160520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99AACC"/>
                </a:solidFill>
                <a:latin typeface="Calibri"/>
              </a:rPr>
              <a:t>Disciplina: Arquitetura de Software — 5 Periodo</a:t>
            </a:r>
          </a:p>
          <a:p>
            <a:pPr algn="l"/>
            <a:r>
              <a:rPr sz="1500" b="0">
                <a:solidFill>
                  <a:srgbClr val="99AACC"/>
                </a:solidFill>
                <a:latin typeface="Calibri"/>
              </a:rPr>
              <a:t>Professor: Filipe Torio Lopes Ruas Nhimi</a:t>
            </a:r>
          </a:p>
          <a:p>
            <a:pPr algn="l"/>
            <a:r>
              <a:rPr sz="1500" b="0">
                <a:solidFill>
                  <a:srgbClr val="99AACC"/>
                </a:solidFill>
                <a:latin typeface="Calibri"/>
              </a:rPr>
              <a:t>Pontificia Universidade Catolica de Minas Gerais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17320"/>
            <a:ext cx="12188952" cy="54864"/>
          </a:xfrm>
          <a:prstGeom prst="rect">
            <a:avLst/>
          </a:prstGeom>
          <a:solidFill>
            <a:srgbClr val="3D9B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Contexto e Problema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86868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3D9BE8"/>
                </a:solidFill>
                <a:latin typeface="Calibri"/>
              </a:rPr>
              <a:t>Por que precisamos de escalabilidade?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83680"/>
            <a:ext cx="11704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BBCC"/>
                </a:solidFill>
                <a:latin typeface="Calibri"/>
              </a:rPr>
              <a:t>Arquitetura de Software — PUC Minas | 2025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645920"/>
            <a:ext cx="5303520" cy="4663440"/>
          </a:xfrm>
          <a:prstGeom prst="rect">
            <a:avLst/>
          </a:prstGeom>
          <a:solidFill>
            <a:srgbClr val="FFFFFF"/>
          </a:solidFill>
          <a:ln w="19050">
            <a:solidFill>
              <a:srgbClr val="215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73736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15CAA"/>
                </a:solidFill>
                <a:latin typeface="Calibri"/>
              </a:rPr>
              <a:t>CENARIO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2121408"/>
            <a:ext cx="5303520" cy="36576"/>
          </a:xfrm>
          <a:prstGeom prst="rect">
            <a:avLst/>
          </a:prstGeom>
          <a:solidFill>
            <a:srgbClr val="21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2240280"/>
            <a:ext cx="48920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444455"/>
                </a:solidFill>
                <a:latin typeface="Calibri"/>
              </a:rPr>
              <a:t>A universidade possui uma API academica</a:t>
            </a:r>
          </a:p>
          <a:p>
            <a:pPr algn="l"/>
            <a:r>
              <a:rPr sz="1500" b="0">
                <a:solidFill>
                  <a:srgbClr val="444455"/>
                </a:solidFill>
                <a:latin typeface="Calibri"/>
              </a:rPr>
              <a:t>para gestao de matriculas, notas e</a:t>
            </a:r>
          </a:p>
          <a:p>
            <a:pPr algn="l"/>
            <a:r>
              <a:rPr sz="1500" b="0">
                <a:solidFill>
                  <a:srgbClr val="444455"/>
                </a:solidFill>
                <a:latin typeface="Calibri"/>
              </a:rPr>
              <a:t>inscricoes em disciplinas.</a:t>
            </a:r>
          </a:p>
          <a:p>
            <a:pPr algn="l"/>
            <a:r>
              <a:rPr sz="1500" b="0">
                <a:solidFill>
                  <a:srgbClr val="444455"/>
                </a:solidFill>
                <a:latin typeface="Calibri"/>
              </a:rPr>
              <a:t/>
            </a:r>
          </a:p>
          <a:p>
            <a:pPr algn="l"/>
            <a:r>
              <a:rPr sz="1500" b="0">
                <a:solidFill>
                  <a:srgbClr val="444455"/>
                </a:solidFill>
                <a:latin typeface="Calibri"/>
              </a:rPr>
              <a:t>Em periodos criticos — como matriculas</a:t>
            </a:r>
          </a:p>
          <a:p>
            <a:pPr algn="l"/>
            <a:r>
              <a:rPr sz="1500" b="0">
                <a:solidFill>
                  <a:srgbClr val="444455"/>
                </a:solidFill>
                <a:latin typeface="Calibri"/>
              </a:rPr>
              <a:t>online — o volume de acessos cresce</a:t>
            </a:r>
          </a:p>
          <a:p>
            <a:pPr algn="l"/>
            <a:r>
              <a:rPr sz="1500" b="0">
                <a:solidFill>
                  <a:srgbClr val="444455"/>
                </a:solidFill>
                <a:latin typeface="Calibri"/>
              </a:rPr>
              <a:t>de forma dramatica em curto intervalo.</a:t>
            </a:r>
          </a:p>
          <a:p>
            <a:pPr algn="l"/>
            <a:r>
              <a:rPr sz="1500" b="0">
                <a:solidFill>
                  <a:srgbClr val="444455"/>
                </a:solidFill>
                <a:latin typeface="Calibri"/>
              </a:rPr>
              <a:t/>
            </a:r>
          </a:p>
          <a:p>
            <a:pPr algn="l"/>
            <a:r>
              <a:rPr sz="1500" b="0">
                <a:solidFill>
                  <a:srgbClr val="444455"/>
                </a:solidFill>
                <a:latin typeface="Calibri"/>
              </a:rPr>
              <a:t>Uma unica instancia da aplicacao nao</a:t>
            </a:r>
          </a:p>
          <a:p>
            <a:pPr algn="l"/>
            <a:r>
              <a:rPr sz="1500" b="0">
                <a:solidFill>
                  <a:srgbClr val="444455"/>
                </a:solidFill>
                <a:latin typeface="Calibri"/>
              </a:rPr>
              <a:t>consegue absorver esse pico sem</a:t>
            </a:r>
          </a:p>
          <a:p>
            <a:pPr algn="l"/>
            <a:r>
              <a:rPr sz="1500" b="0">
                <a:solidFill>
                  <a:srgbClr val="444455"/>
                </a:solidFill>
                <a:latin typeface="Calibri"/>
              </a:rPr>
              <a:t>degradar o tempo de resposta.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645920"/>
            <a:ext cx="5669280" cy="4663440"/>
          </a:xfrm>
          <a:prstGeom prst="rect">
            <a:avLst/>
          </a:prstGeom>
          <a:solidFill>
            <a:srgbClr val="FFFFFF"/>
          </a:solidFill>
          <a:ln w="1905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73736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0392B"/>
                </a:solidFill>
                <a:latin typeface="Calibri"/>
              </a:rPr>
              <a:t>PROBLEMA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2121408"/>
            <a:ext cx="5669280" cy="3657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2240280"/>
            <a:ext cx="53492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444455"/>
                </a:solidFill>
                <a:latin typeface="Calibri"/>
              </a:rPr>
              <a:t>Instancia unica: gargalo e ponto</a:t>
            </a:r>
          </a:p>
          <a:p>
            <a:pPr algn="l"/>
            <a:r>
              <a:rPr sz="1500" b="0">
                <a:solidFill>
                  <a:srgbClr val="444455"/>
                </a:solidFill>
                <a:latin typeface="Calibri"/>
              </a:rPr>
              <a:t>unico de falha</a:t>
            </a:r>
          </a:p>
          <a:p>
            <a:pPr algn="l"/>
            <a:r>
              <a:rPr sz="1500" b="0">
                <a:solidFill>
                  <a:srgbClr val="444455"/>
                </a:solidFill>
                <a:latin typeface="Calibri"/>
              </a:rPr>
              <a:t/>
            </a:r>
          </a:p>
          <a:p>
            <a:pPr algn="l"/>
            <a:r>
              <a:rPr sz="1500" b="0">
                <a:solidFill>
                  <a:srgbClr val="444455"/>
                </a:solidFill>
                <a:latin typeface="Calibri"/>
              </a:rPr>
              <a:t>- Queda = sistema indisponivel</a:t>
            </a:r>
          </a:p>
          <a:p>
            <a:pPr algn="l"/>
            <a:r>
              <a:rPr sz="1500" b="0">
                <a:solidFill>
                  <a:srgbClr val="444455"/>
                </a:solidFill>
                <a:latin typeface="Calibri"/>
              </a:rPr>
              <a:t>- Alta carga = lentidao para todos</a:t>
            </a:r>
          </a:p>
          <a:p>
            <a:pPr algn="l"/>
            <a:r>
              <a:rPr sz="1500" b="0">
                <a:solidFill>
                  <a:srgbClr val="444455"/>
                </a:solidFill>
                <a:latin typeface="Calibri"/>
              </a:rPr>
              <a:t>- Manutencao = interrupcao do servico</a:t>
            </a:r>
          </a:p>
          <a:p>
            <a:pPr algn="l"/>
            <a:r>
              <a:rPr sz="1500" b="0">
                <a:solidFill>
                  <a:srgbClr val="444455"/>
                </a:solidFill>
                <a:latin typeface="Calibri"/>
              </a:rPr>
              <a:t/>
            </a:r>
          </a:p>
          <a:p>
            <a:pPr algn="l"/>
            <a:r>
              <a:rPr sz="1500" b="0">
                <a:solidFill>
                  <a:srgbClr val="444455"/>
                </a:solidFill>
                <a:latin typeface="Calibri"/>
              </a:rPr>
              <a:t>SOLUCAO:</a:t>
            </a:r>
          </a:p>
          <a:p>
            <a:pPr algn="l"/>
            <a:r>
              <a:rPr sz="1500" b="0">
                <a:solidFill>
                  <a:srgbClr val="444455"/>
                </a:solidFill>
                <a:latin typeface="Calibri"/>
              </a:rPr>
              <a:t>Distribuir as requisicoes entre</a:t>
            </a:r>
          </a:p>
          <a:p>
            <a:pPr algn="l"/>
            <a:r>
              <a:rPr sz="1500" b="0">
                <a:solidFill>
                  <a:srgbClr val="444455"/>
                </a:solidFill>
                <a:latin typeface="Calibri"/>
              </a:rPr>
              <a:t>multiplas instancias identicas da</a:t>
            </a:r>
          </a:p>
          <a:p>
            <a:pPr algn="l"/>
            <a:r>
              <a:rPr sz="1500" b="0">
                <a:solidFill>
                  <a:srgbClr val="444455"/>
                </a:solidFill>
                <a:latin typeface="Calibri"/>
              </a:rPr>
              <a:t>aplicacao usando um balanceador</a:t>
            </a:r>
          </a:p>
          <a:p>
            <a:pPr algn="l"/>
            <a:r>
              <a:rPr sz="1500" b="0">
                <a:solidFill>
                  <a:srgbClr val="444455"/>
                </a:solidFill>
                <a:latin typeface="Calibri"/>
              </a:rPr>
              <a:t>de carga.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3858768"/>
            <a:ext cx="5349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7A3C"/>
                </a:solidFill>
                <a:latin typeface="Calibri"/>
              </a:rPr>
              <a:t>SOLUCAO: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17320"/>
            <a:ext cx="12188952" cy="54864"/>
          </a:xfrm>
          <a:prstGeom prst="rect">
            <a:avLst/>
          </a:prstGeom>
          <a:solidFill>
            <a:srgbClr val="3D9B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Arquitetura da Solucao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86868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3D9BE8"/>
                </a:solidFill>
                <a:latin typeface="Calibri"/>
              </a:rPr>
              <a:t>Visao geral dos componentes e fluxo de requisicoes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83680"/>
            <a:ext cx="11704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BBCC"/>
                </a:solidFill>
                <a:latin typeface="Calibri"/>
              </a:rPr>
              <a:t>Arquitetura de Software — PUC Minas | 2025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828800"/>
            <a:ext cx="2011680" cy="77724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874519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CLIENTE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24028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D9BE8"/>
                </a:solidFill>
                <a:latin typeface="Calibri"/>
              </a:rPr>
              <a:t>Navegador / curl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68880" y="2148840"/>
            <a:ext cx="1005840" cy="73152"/>
          </a:xfrm>
          <a:prstGeom prst="rect">
            <a:avLst/>
          </a:prstGeom>
          <a:solidFill>
            <a:srgbClr val="21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487168" y="1965960"/>
            <a:ext cx="1005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44455"/>
                </a:solidFill>
                <a:latin typeface="Calibri"/>
              </a:rPr>
              <a:t>HTTP :8080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74720" y="1554480"/>
            <a:ext cx="2377440" cy="1371600"/>
          </a:xfrm>
          <a:prstGeom prst="rect">
            <a:avLst/>
          </a:prstGeom>
          <a:solidFill>
            <a:srgbClr val="21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74720" y="1627632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NGINX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2029968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D9BE8"/>
                </a:solidFill>
                <a:latin typeface="Calibri"/>
              </a:rPr>
              <a:t>Balanceador de Carga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0" y="233172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Round-Robin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852160" y="1691640"/>
            <a:ext cx="822960" cy="73152"/>
          </a:xfrm>
          <a:prstGeom prst="rect">
            <a:avLst/>
          </a:prstGeom>
          <a:solidFill>
            <a:srgbClr val="21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852160" y="2331720"/>
            <a:ext cx="822960" cy="73152"/>
          </a:xfrm>
          <a:prstGeom prst="rect">
            <a:avLst/>
          </a:prstGeom>
          <a:solidFill>
            <a:srgbClr val="21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629400" y="1728216"/>
            <a:ext cx="73152" cy="676656"/>
          </a:xfrm>
          <a:prstGeom prst="rect">
            <a:avLst/>
          </a:prstGeom>
          <a:solidFill>
            <a:srgbClr val="21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675120" y="1371600"/>
            <a:ext cx="2194560" cy="914400"/>
          </a:xfrm>
          <a:prstGeom prst="rect">
            <a:avLst/>
          </a:prstGeom>
          <a:solidFill>
            <a:srgbClr val="1A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75120" y="1435608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app-1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182880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Node.js :3001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675120" y="2423160"/>
            <a:ext cx="2194560" cy="914400"/>
          </a:xfrm>
          <a:prstGeom prst="rect">
            <a:avLst/>
          </a:prstGeom>
          <a:solidFill>
            <a:srgbClr val="1A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75120" y="2487168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app-2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75120" y="288036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Node.js :3002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869680" y="1783080"/>
            <a:ext cx="731520" cy="73152"/>
          </a:xfrm>
          <a:prstGeom prst="rect">
            <a:avLst/>
          </a:prstGeom>
          <a:solidFill>
            <a:srgbClr val="44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869680" y="2834640"/>
            <a:ext cx="731520" cy="73152"/>
          </a:xfrm>
          <a:prstGeom prst="rect">
            <a:avLst/>
          </a:prstGeom>
          <a:solidFill>
            <a:srgbClr val="44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528048" y="1819656"/>
            <a:ext cx="73152" cy="1088136"/>
          </a:xfrm>
          <a:prstGeom prst="rect">
            <a:avLst/>
          </a:prstGeom>
          <a:solidFill>
            <a:srgbClr val="44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601200" y="1920240"/>
            <a:ext cx="2194560" cy="164592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601200" y="1993392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PostgreSQL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01200" y="242316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D9BE8"/>
                </a:solidFill>
                <a:latin typeface="Calibri"/>
              </a:rPr>
              <a:t>Banco de Dados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01200" y="2724912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D9BE8"/>
                </a:solidFill>
                <a:latin typeface="Calibri"/>
              </a:rPr>
              <a:t>Compartilhado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01200" y="3127248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899BB"/>
                </a:solidFill>
                <a:latin typeface="Calibri"/>
              </a:rPr>
              <a:t>Tabela: records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20040" y="4023360"/>
            <a:ext cx="1152144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02920" y="41605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15CAA"/>
                </a:solidFill>
                <a:latin typeface="Calibri"/>
              </a:rPr>
              <a:t>Node.js 20 + Express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" y="4507992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55"/>
                </a:solidFill>
                <a:latin typeface="Calibri"/>
              </a:rPr>
              <a:t>API stateless com CRUD completo e metricas por instancia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63640" y="41605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15CAA"/>
                </a:solidFill>
                <a:latin typeface="Calibri"/>
              </a:rPr>
              <a:t>NGINX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63640" y="4507992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55"/>
                </a:solidFill>
                <a:latin typeface="Calibri"/>
              </a:rPr>
              <a:t>Balanceador de carga com algoritmo round-robin e deteccao de falhas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2920" y="51663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15CAA"/>
                </a:solidFill>
                <a:latin typeface="Calibri"/>
              </a:rPr>
              <a:t>PostgreSQL 15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2920" y="5513832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55"/>
                </a:solidFill>
                <a:latin typeface="Calibri"/>
              </a:rPr>
              <a:t>Estado compartilhado — todas as instancias acessam os mesmos dados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63640" y="51663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15CAA"/>
                </a:solidFill>
                <a:latin typeface="Calibri"/>
              </a:rPr>
              <a:t>Docker Compose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63640" y="5513832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55"/>
                </a:solidFill>
                <a:latin typeface="Calibri"/>
              </a:rPr>
              <a:t>Orquestracao: app1, app2, db e lb em containers isolados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17320"/>
            <a:ext cx="12188952" cy="54864"/>
          </a:xfrm>
          <a:prstGeom prst="rect">
            <a:avLst/>
          </a:prstGeom>
          <a:solidFill>
            <a:srgbClr val="3D9B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Escalabilidade: Horizontal vs Vertical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86868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3D9BE8"/>
                </a:solidFill>
                <a:latin typeface="Calibri"/>
              </a:rPr>
              <a:t>Duas abordagens para lidar com crescimento de carga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83680"/>
            <a:ext cx="11704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BBCC"/>
                </a:solidFill>
                <a:latin typeface="Calibri"/>
              </a:rPr>
              <a:t>Arquitetura de Software — PUC Minas | 2025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645920"/>
            <a:ext cx="5394960" cy="4709160"/>
          </a:xfrm>
          <a:prstGeom prst="rect">
            <a:avLst/>
          </a:prstGeom>
          <a:solidFill>
            <a:srgbClr val="FFFFFF"/>
          </a:solidFill>
          <a:ln w="15240">
            <a:solidFill>
              <a:srgbClr val="999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645920"/>
            <a:ext cx="5394960" cy="502920"/>
          </a:xfrm>
          <a:prstGeom prst="rect">
            <a:avLst/>
          </a:prstGeom>
          <a:solidFill>
            <a:srgbClr val="999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69164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VERTICAL (Scale Up)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240280"/>
            <a:ext cx="50292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444455"/>
                </a:solidFill>
                <a:latin typeface="Calibri"/>
              </a:rPr>
              <a:t>Aumentar recursos de UM servidor</a:t>
            </a:r>
          </a:p>
          <a:p>
            <a:pPr algn="l"/>
            <a:r>
              <a:rPr sz="1500" b="0">
                <a:solidFill>
                  <a:srgbClr val="444455"/>
                </a:solidFill>
                <a:latin typeface="Calibri"/>
              </a:rPr>
              <a:t/>
            </a:r>
          </a:p>
          <a:p>
            <a:pPr algn="l"/>
            <a:r>
              <a:rPr sz="1500" b="0">
                <a:solidFill>
                  <a:srgbClr val="444455"/>
                </a:solidFill>
                <a:latin typeface="Calibri"/>
              </a:rPr>
              <a:t>  - Mais CPU, mais RAM, SSD mais rapido</a:t>
            </a:r>
          </a:p>
          <a:p>
            <a:pPr algn="l"/>
            <a:r>
              <a:rPr sz="1500" b="0">
                <a:solidFill>
                  <a:srgbClr val="444455"/>
                </a:solidFill>
                <a:latin typeface="Calibri"/>
              </a:rPr>
              <a:t>  - Mesma instancia da aplicacao</a:t>
            </a:r>
          </a:p>
          <a:p>
            <a:pPr algn="l"/>
            <a:r>
              <a:rPr sz="1500" b="0">
                <a:solidFill>
                  <a:srgbClr val="444455"/>
                </a:solidFill>
                <a:latin typeface="Calibri"/>
              </a:rPr>
              <a:t>  - Sem alteracao no codigo</a:t>
            </a:r>
          </a:p>
          <a:p>
            <a:pPr algn="l"/>
            <a:r>
              <a:rPr sz="1500" b="0">
                <a:solidFill>
                  <a:srgbClr val="444455"/>
                </a:solidFill>
                <a:latin typeface="Calibri"/>
              </a:rPr>
              <a:t/>
            </a:r>
          </a:p>
          <a:p>
            <a:pPr algn="l"/>
            <a:r>
              <a:rPr sz="1500" b="0">
                <a:solidFill>
                  <a:srgbClr val="444455"/>
                </a:solidFill>
                <a:latin typeface="Calibri"/>
              </a:rPr>
              <a:t>Limitacoes:</a:t>
            </a:r>
          </a:p>
          <a:p>
            <a:pPr algn="l"/>
            <a:r>
              <a:rPr sz="1500" b="0">
                <a:solidFill>
                  <a:srgbClr val="444455"/>
                </a:solidFill>
                <a:latin typeface="Calibri"/>
              </a:rPr>
              <a:t>  - Custo cresce exponencialmente</a:t>
            </a:r>
          </a:p>
          <a:p>
            <a:pPr algn="l"/>
            <a:r>
              <a:rPr sz="1500" b="0">
                <a:solidFill>
                  <a:srgbClr val="444455"/>
                </a:solidFill>
                <a:latin typeface="Calibri"/>
              </a:rPr>
              <a:t>  - Existe um limite fisico de hardware</a:t>
            </a:r>
          </a:p>
          <a:p>
            <a:pPr algn="l"/>
            <a:r>
              <a:rPr sz="1500" b="0">
                <a:solidFill>
                  <a:srgbClr val="444455"/>
                </a:solidFill>
                <a:latin typeface="Calibri"/>
              </a:rPr>
              <a:t>  - Ponto unico de falha permanece</a:t>
            </a:r>
          </a:p>
          <a:p>
            <a:pPr algn="l"/>
            <a:r>
              <a:rPr sz="1500" b="0">
                <a:solidFill>
                  <a:srgbClr val="444455"/>
                </a:solidFill>
                <a:latin typeface="Calibri"/>
              </a:rPr>
              <a:t>  - Manutencao exige parada total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645920"/>
            <a:ext cx="5669280" cy="4709160"/>
          </a:xfrm>
          <a:prstGeom prst="rect">
            <a:avLst/>
          </a:prstGeom>
          <a:solidFill>
            <a:srgbClr val="FFFFFF"/>
          </a:solidFill>
          <a:ln w="19050">
            <a:solidFill>
              <a:srgbClr val="1A7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1645920"/>
            <a:ext cx="5669280" cy="502920"/>
          </a:xfrm>
          <a:prstGeom prst="rect">
            <a:avLst/>
          </a:prstGeom>
          <a:solidFill>
            <a:srgbClr val="1A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0" y="169164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HORIZONTAL (Scale Out)  [ADOTADO]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240280"/>
            <a:ext cx="53492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444455"/>
                </a:solidFill>
                <a:latin typeface="Calibri"/>
              </a:rPr>
              <a:t>Adicionar MAIS instancias identicas</a:t>
            </a:r>
          </a:p>
          <a:p>
            <a:pPr algn="l"/>
            <a:r>
              <a:rPr sz="1500" b="0">
                <a:solidFill>
                  <a:srgbClr val="444455"/>
                </a:solidFill>
                <a:latin typeface="Calibri"/>
              </a:rPr>
              <a:t/>
            </a:r>
          </a:p>
          <a:p>
            <a:pPr algn="l"/>
            <a:r>
              <a:rPr sz="1500" b="0">
                <a:solidFill>
                  <a:srgbClr val="444455"/>
                </a:solidFill>
                <a:latin typeface="Calibri"/>
              </a:rPr>
              <a:t>  - Mesmos recursos por servidor</a:t>
            </a:r>
          </a:p>
          <a:p>
            <a:pPr algn="l"/>
            <a:r>
              <a:rPr sz="1500" b="0">
                <a:solidFill>
                  <a:srgbClr val="444455"/>
                </a:solidFill>
                <a:latin typeface="Calibri"/>
              </a:rPr>
              <a:t>  - Balanceador distribui a carga</a:t>
            </a:r>
          </a:p>
          <a:p>
            <a:pPr algn="l"/>
            <a:r>
              <a:rPr sz="1500" b="0">
                <a:solidFill>
                  <a:srgbClr val="444455"/>
                </a:solidFill>
                <a:latin typeface="Calibri"/>
              </a:rPr>
              <a:t>  - Qualquer numero de instancias</a:t>
            </a:r>
          </a:p>
          <a:p>
            <a:pPr algn="l"/>
            <a:r>
              <a:rPr sz="1500" b="0">
                <a:solidFill>
                  <a:srgbClr val="444455"/>
                </a:solidFill>
                <a:latin typeface="Calibri"/>
              </a:rPr>
              <a:t/>
            </a:r>
          </a:p>
          <a:p>
            <a:pPr algn="l"/>
            <a:r>
              <a:rPr sz="1500" b="0">
                <a:solidFill>
                  <a:srgbClr val="444455"/>
                </a:solidFill>
                <a:latin typeface="Calibri"/>
              </a:rPr>
              <a:t>Vantagens:</a:t>
            </a:r>
          </a:p>
          <a:p>
            <a:pPr algn="l"/>
            <a:r>
              <a:rPr sz="1500" b="0">
                <a:solidFill>
                  <a:srgbClr val="444455"/>
                </a:solidFill>
                <a:latin typeface="Calibri"/>
              </a:rPr>
              <a:t>  - Custo linear (paga pelo que usa)</a:t>
            </a:r>
          </a:p>
          <a:p>
            <a:pPr algn="l"/>
            <a:r>
              <a:rPr sz="1500" b="0">
                <a:solidFill>
                  <a:srgbClr val="444455"/>
                </a:solidFill>
                <a:latin typeface="Calibri"/>
              </a:rPr>
              <a:t>  - Sem limite pratico de crescimento</a:t>
            </a:r>
          </a:p>
          <a:p>
            <a:pPr algn="l"/>
            <a:r>
              <a:rPr sz="1500" b="0">
                <a:solidFill>
                  <a:srgbClr val="444455"/>
                </a:solidFill>
                <a:latin typeface="Calibri"/>
              </a:rPr>
              <a:t>  - Falha de uma nao derruba o sistema</a:t>
            </a:r>
          </a:p>
          <a:p>
            <a:pPr algn="l"/>
            <a:r>
              <a:rPr sz="1500" b="0">
                <a:solidFill>
                  <a:srgbClr val="444455"/>
                </a:solidFill>
                <a:latin typeface="Calibri"/>
              </a:rPr>
              <a:t>  - Atualizacoes sem downtime (rolling)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171907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[ADOTADO]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17320"/>
            <a:ext cx="12188952" cy="54864"/>
          </a:xfrm>
          <a:prstGeom prst="rect">
            <a:avLst/>
          </a:prstGeom>
          <a:solidFill>
            <a:srgbClr val="3D9B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Stateless: O Pilar da Escalabilidade Horizontal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86868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3D9BE8"/>
                </a:solidFill>
                <a:latin typeface="Calibri"/>
              </a:rPr>
              <a:t>Por que aplicacoes escalaveis nao devem guardar estado local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83680"/>
            <a:ext cx="11704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BBCC"/>
                </a:solidFill>
                <a:latin typeface="Calibri"/>
              </a:rPr>
              <a:t>Arquitetura de Software — PUC Minas | 2025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645920"/>
            <a:ext cx="5394960" cy="4663440"/>
          </a:xfrm>
          <a:prstGeom prst="rect">
            <a:avLst/>
          </a:prstGeom>
          <a:solidFill>
            <a:srgbClr val="FFFFFF"/>
          </a:solidFill>
          <a:ln w="1905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645920"/>
            <a:ext cx="5394960" cy="5029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69164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STATEFUL — problemas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240280"/>
            <a:ext cx="50292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444455"/>
                </a:solidFill>
                <a:latin typeface="Calibri"/>
              </a:rPr>
              <a:t>Estado mantido em memoria local</a:t>
            </a:r>
          </a:p>
          <a:p>
            <a:pPr algn="l"/>
            <a:r>
              <a:rPr sz="1350" b="0">
                <a:solidFill>
                  <a:srgbClr val="444455"/>
                </a:solidFill>
                <a:latin typeface="Calibri"/>
              </a:rPr>
              <a:t>de cada instancia:</a:t>
            </a:r>
          </a:p>
          <a:p>
            <a:pPr algn="l"/>
            <a:r>
              <a:rPr sz="1350" b="0">
                <a:solidFill>
                  <a:srgbClr val="444455"/>
                </a:solidFill>
                <a:latin typeface="Calibri"/>
              </a:rPr>
              <a:t/>
            </a:r>
          </a:p>
          <a:p>
            <a:pPr algn="l"/>
            <a:r>
              <a:rPr sz="1350" b="0">
                <a:solidFill>
                  <a:srgbClr val="444455"/>
                </a:solidFill>
                <a:latin typeface="Calibri"/>
              </a:rPr>
              <a:t>SESSOES INCONSISTENTES</a:t>
            </a:r>
          </a:p>
          <a:p>
            <a:pPr algn="l"/>
            <a:r>
              <a:rPr sz="1350" b="0">
                <a:solidFill>
                  <a:srgbClr val="444455"/>
                </a:solidFill>
                <a:latin typeface="Calibri"/>
              </a:rPr>
              <a:t>Usuario loga em app-1. Proxima</a:t>
            </a:r>
          </a:p>
          <a:p>
            <a:pPr algn="l"/>
            <a:r>
              <a:rPr sz="1350" b="0">
                <a:solidFill>
                  <a:srgbClr val="444455"/>
                </a:solidFill>
                <a:latin typeface="Calibri"/>
              </a:rPr>
              <a:t>requisicao vai para app-2, que nao</a:t>
            </a:r>
          </a:p>
          <a:p>
            <a:pPr algn="l"/>
            <a:r>
              <a:rPr sz="1350" b="0">
                <a:solidFill>
                  <a:srgbClr val="444455"/>
                </a:solidFill>
                <a:latin typeface="Calibri"/>
              </a:rPr>
              <a:t>sabe que ele esta logado.</a:t>
            </a:r>
          </a:p>
          <a:p>
            <a:pPr algn="l"/>
            <a:r>
              <a:rPr sz="1350" b="0">
                <a:solidFill>
                  <a:srgbClr val="444455"/>
                </a:solidFill>
                <a:latin typeface="Calibri"/>
              </a:rPr>
              <a:t/>
            </a:r>
          </a:p>
          <a:p>
            <a:pPr algn="l"/>
            <a:r>
              <a:rPr sz="1350" b="0">
                <a:solidFill>
                  <a:srgbClr val="444455"/>
                </a:solidFill>
                <a:latin typeface="Calibri"/>
              </a:rPr>
              <a:t>CACHE DESATUALIZADO</a:t>
            </a:r>
          </a:p>
          <a:p>
            <a:pPr algn="l"/>
            <a:r>
              <a:rPr sz="1350" b="0">
                <a:solidFill>
                  <a:srgbClr val="444455"/>
                </a:solidFill>
                <a:latin typeface="Calibri"/>
              </a:rPr>
              <a:t>app-1 atualiza um registro. app-2</a:t>
            </a:r>
          </a:p>
          <a:p>
            <a:pPr algn="l"/>
            <a:r>
              <a:rPr sz="1350" b="0">
                <a:solidFill>
                  <a:srgbClr val="444455"/>
                </a:solidFill>
                <a:latin typeface="Calibri"/>
              </a:rPr>
              <a:t>ainda serve o valor antigo do cache.</a:t>
            </a:r>
          </a:p>
          <a:p>
            <a:pPr algn="l"/>
            <a:r>
              <a:rPr sz="1350" b="0">
                <a:solidFill>
                  <a:srgbClr val="444455"/>
                </a:solidFill>
                <a:latin typeface="Calibri"/>
              </a:rPr>
              <a:t/>
            </a:r>
          </a:p>
          <a:p>
            <a:pPr algn="l"/>
            <a:r>
              <a:rPr sz="1350" b="0">
                <a:solidFill>
                  <a:srgbClr val="444455"/>
                </a:solidFill>
                <a:latin typeface="Calibri"/>
              </a:rPr>
              <a:t>PERDA DE DADOS</a:t>
            </a:r>
          </a:p>
          <a:p>
            <a:pPr algn="l"/>
            <a:r>
              <a:rPr sz="1350" b="0">
                <a:solidFill>
                  <a:srgbClr val="444455"/>
                </a:solidFill>
                <a:latin typeface="Calibri"/>
              </a:rPr>
              <a:t>Instancia cai, tudo em memoria se perde.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633472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C0392B"/>
                </a:solidFill>
                <a:latin typeface="Calibri"/>
              </a:rPr>
              <a:t>SESSOES INCONSISTENTES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593592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C0392B"/>
                </a:solidFill>
                <a:latin typeface="Calibri"/>
              </a:rPr>
              <a:t>CACHE DESATUALIZADO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4462272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C0392B"/>
                </a:solidFill>
                <a:latin typeface="Calibri"/>
              </a:rPr>
              <a:t>PERDA DE DADOS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1645920"/>
            <a:ext cx="5669280" cy="4663440"/>
          </a:xfrm>
          <a:prstGeom prst="rect">
            <a:avLst/>
          </a:prstGeom>
          <a:solidFill>
            <a:srgbClr val="FFFFFF"/>
          </a:solidFill>
          <a:ln w="19050">
            <a:solidFill>
              <a:srgbClr val="1A7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0" y="1645920"/>
            <a:ext cx="5669280" cy="502920"/>
          </a:xfrm>
          <a:prstGeom prst="rect">
            <a:avLst/>
          </a:prstGeom>
          <a:solidFill>
            <a:srgbClr val="1A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169164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STATELESS — solucao adotada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240280"/>
            <a:ext cx="53492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444455"/>
                </a:solidFill>
                <a:latin typeface="Calibri"/>
              </a:rPr>
              <a:t>Estado externalizado no banco de dados:</a:t>
            </a:r>
          </a:p>
          <a:p>
            <a:pPr algn="l"/>
            <a:r>
              <a:rPr sz="1350" b="0">
                <a:solidFill>
                  <a:srgbClr val="444455"/>
                </a:solidFill>
                <a:latin typeface="Calibri"/>
              </a:rPr>
              <a:t/>
            </a:r>
          </a:p>
          <a:p>
            <a:pPr algn="l"/>
            <a:r>
              <a:rPr sz="1350" b="0">
                <a:solidFill>
                  <a:srgbClr val="444455"/>
                </a:solidFill>
                <a:latin typeface="Calibri"/>
              </a:rPr>
              <a:t>- Nenhum dado de negocio em memoria</a:t>
            </a:r>
          </a:p>
          <a:p>
            <a:pPr algn="l"/>
            <a:r>
              <a:rPr sz="1350" b="0">
                <a:solidFill>
                  <a:srgbClr val="444455"/>
                </a:solidFill>
                <a:latin typeface="Calibri"/>
              </a:rPr>
              <a:t>- PostgreSQL e o unico repositorio</a:t>
            </a:r>
          </a:p>
          <a:p>
            <a:pPr algn="l"/>
            <a:r>
              <a:rPr sz="1350" b="0">
                <a:solidFill>
                  <a:srgbClr val="444455"/>
                </a:solidFill>
                <a:latin typeface="Calibri"/>
              </a:rPr>
              <a:t>  de verdade dos dados</a:t>
            </a:r>
          </a:p>
          <a:p>
            <a:pPr algn="l"/>
            <a:r>
              <a:rPr sz="1350" b="0">
                <a:solidFill>
                  <a:srgbClr val="444455"/>
                </a:solidFill>
                <a:latin typeface="Calibri"/>
              </a:rPr>
              <a:t>- Qualquer instancia pode atender</a:t>
            </a:r>
          </a:p>
          <a:p>
            <a:pPr algn="l"/>
            <a:r>
              <a:rPr sz="1350" b="0">
                <a:solidFill>
                  <a:srgbClr val="444455"/>
                </a:solidFill>
                <a:latin typeface="Calibri"/>
              </a:rPr>
              <a:t>  qualquer requisicao</a:t>
            </a:r>
          </a:p>
          <a:p>
            <a:pPr algn="l"/>
            <a:r>
              <a:rPr sz="1350" b="0">
                <a:solidFill>
                  <a:srgbClr val="444455"/>
                </a:solidFill>
                <a:latin typeface="Calibri"/>
              </a:rPr>
              <a:t>- Resultado identico independente</a:t>
            </a:r>
          </a:p>
          <a:p>
            <a:pPr algn="l"/>
            <a:r>
              <a:rPr sz="1350" b="0">
                <a:solidFill>
                  <a:srgbClr val="444455"/>
                </a:solidFill>
                <a:latin typeface="Calibri"/>
              </a:rPr>
              <a:t>  de qual instancia respondeu</a:t>
            </a:r>
          </a:p>
          <a:p>
            <a:pPr algn="l"/>
            <a:r>
              <a:rPr sz="1350" b="0">
                <a:solidFill>
                  <a:srgbClr val="444455"/>
                </a:solidFill>
                <a:latin typeface="Calibri"/>
              </a:rPr>
              <a:t/>
            </a:r>
          </a:p>
          <a:p>
            <a:pPr algn="l"/>
            <a:r>
              <a:rPr sz="1350" b="0">
                <a:solidFill>
                  <a:srgbClr val="444455"/>
                </a:solidFill>
                <a:latin typeface="Calibri"/>
              </a:rPr>
              <a:t>NGINX pode enviar req 1 para app-1</a:t>
            </a:r>
          </a:p>
          <a:p>
            <a:pPr algn="l"/>
            <a:r>
              <a:rPr sz="1350" b="0">
                <a:solidFill>
                  <a:srgbClr val="444455"/>
                </a:solidFill>
                <a:latin typeface="Calibri"/>
              </a:rPr>
              <a:t>e req 2 para app-2; os dados sao</a:t>
            </a:r>
          </a:p>
          <a:p>
            <a:pPr algn="l"/>
            <a:r>
              <a:rPr sz="1350" b="0">
                <a:solidFill>
                  <a:srgbClr val="444455"/>
                </a:solidFill>
                <a:latin typeface="Calibri"/>
              </a:rPr>
              <a:t>os mesmos para ambas.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17320"/>
            <a:ext cx="12188952" cy="54864"/>
          </a:xfrm>
          <a:prstGeom prst="rect">
            <a:avLst/>
          </a:prstGeom>
          <a:solidFill>
            <a:srgbClr val="3D9B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Endpoints da API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86868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3D9BE8"/>
                </a:solidFill>
                <a:latin typeface="Calibri"/>
              </a:rPr>
              <a:t>CRUD completo com identificacao de instancia em todas as respostas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83680"/>
            <a:ext cx="11704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BBCC"/>
                </a:solidFill>
                <a:latin typeface="Calibri"/>
              </a:rPr>
              <a:t>Arquitetura de Software — PUC Minas | 2025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600200"/>
            <a:ext cx="11521440" cy="4572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64592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Metodo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16459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Rota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1645920"/>
            <a:ext cx="6675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Descricao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2057400"/>
            <a:ext cx="1152144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65760" y="2103120"/>
            <a:ext cx="1188720" cy="384048"/>
          </a:xfrm>
          <a:prstGeom prst="rect">
            <a:avLst/>
          </a:prstGeom>
          <a:solidFill>
            <a:srgbClr val="176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4048" y="2130552"/>
            <a:ext cx="1143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GET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64208" y="2103120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3E"/>
                </a:solidFill>
                <a:latin typeface="Calibri"/>
              </a:rPr>
              <a:t>/records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56048" y="2103120"/>
            <a:ext cx="6675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4455"/>
                </a:solidFill>
                <a:latin typeface="Calibri"/>
              </a:rPr>
              <a:t>Lista todos os registros academicos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2587752"/>
            <a:ext cx="11521440" cy="502920"/>
          </a:xfrm>
          <a:prstGeom prst="rect">
            <a:avLst/>
          </a:prstGeom>
          <a:solidFill>
            <a:srgbClr val="F0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5760" y="2633472"/>
            <a:ext cx="1188720" cy="384048"/>
          </a:xfrm>
          <a:prstGeom prst="rect">
            <a:avLst/>
          </a:prstGeom>
          <a:solidFill>
            <a:srgbClr val="176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84048" y="2660904"/>
            <a:ext cx="1143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GET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64208" y="2633472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3E"/>
                </a:solidFill>
                <a:latin typeface="Calibri"/>
              </a:rPr>
              <a:t>/records/:id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56048" y="2633472"/>
            <a:ext cx="6675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4455"/>
                </a:solidFill>
                <a:latin typeface="Calibri"/>
              </a:rPr>
              <a:t>Consulta um registro especifico por ID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3118104"/>
            <a:ext cx="1152144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65760" y="3163824"/>
            <a:ext cx="1188720" cy="384048"/>
          </a:xfrm>
          <a:prstGeom prst="rect">
            <a:avLst/>
          </a:prstGeom>
          <a:solidFill>
            <a:srgbClr val="1A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84048" y="3191256"/>
            <a:ext cx="1143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POST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64208" y="3163824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3E"/>
                </a:solidFill>
                <a:latin typeface="Calibri"/>
              </a:rPr>
              <a:t>/records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56048" y="3163824"/>
            <a:ext cx="6675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4455"/>
                </a:solidFill>
                <a:latin typeface="Calibri"/>
              </a:rPr>
              <a:t>Cadastra novo registro (name, type, detail)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0040" y="3648456"/>
            <a:ext cx="11521440" cy="502920"/>
          </a:xfrm>
          <a:prstGeom prst="rect">
            <a:avLst/>
          </a:prstGeom>
          <a:solidFill>
            <a:srgbClr val="F0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65760" y="3694175"/>
            <a:ext cx="1188720" cy="384048"/>
          </a:xfrm>
          <a:prstGeom prst="rect">
            <a:avLst/>
          </a:prstGeom>
          <a:solidFill>
            <a:srgbClr val="B8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84048" y="3721608"/>
            <a:ext cx="1143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PUT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664208" y="3694175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3E"/>
                </a:solidFill>
                <a:latin typeface="Calibri"/>
              </a:rPr>
              <a:t>/records/:id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956048" y="3694175"/>
            <a:ext cx="6675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4455"/>
                </a:solidFill>
                <a:latin typeface="Calibri"/>
              </a:rPr>
              <a:t>Atualiza um registro existente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0040" y="4178808"/>
            <a:ext cx="1152144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65760" y="4224527"/>
            <a:ext cx="1188720" cy="384048"/>
          </a:xfrm>
          <a:prstGeom prst="rect">
            <a:avLst/>
          </a:prstGeom>
          <a:solidFill>
            <a:srgbClr val="B02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84048" y="4251960"/>
            <a:ext cx="1143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DELETE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664208" y="4224527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3E"/>
                </a:solidFill>
                <a:latin typeface="Calibri"/>
              </a:rPr>
              <a:t>/records/:id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956048" y="4224527"/>
            <a:ext cx="6675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4455"/>
                </a:solidFill>
                <a:latin typeface="Calibri"/>
              </a:rPr>
              <a:t>Remove um registro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0040" y="4709160"/>
            <a:ext cx="11521440" cy="502920"/>
          </a:xfrm>
          <a:prstGeom prst="rect">
            <a:avLst/>
          </a:prstGeom>
          <a:solidFill>
            <a:srgbClr val="F0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65760" y="4754879"/>
            <a:ext cx="1188720" cy="384048"/>
          </a:xfrm>
          <a:prstGeom prst="rect">
            <a:avLst/>
          </a:prstGeom>
          <a:solidFill>
            <a:srgbClr val="176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84048" y="4782312"/>
            <a:ext cx="1143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GET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664208" y="4754879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3E"/>
                </a:solidFill>
                <a:latin typeface="Calibri"/>
              </a:rPr>
              <a:t>/health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956048" y="4754879"/>
            <a:ext cx="6675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4455"/>
                </a:solidFill>
                <a:latin typeface="Calibri"/>
              </a:rPr>
              <a:t>Saude da instancia e conexao com o banco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20040" y="5239512"/>
            <a:ext cx="1152144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65760" y="5285231"/>
            <a:ext cx="1188720" cy="384048"/>
          </a:xfrm>
          <a:prstGeom prst="rect">
            <a:avLst/>
          </a:prstGeom>
          <a:solidFill>
            <a:srgbClr val="176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84048" y="5312664"/>
            <a:ext cx="1143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GET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664208" y="5285231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3E"/>
                </a:solidFill>
                <a:latin typeface="Calibri"/>
              </a:rPr>
              <a:t>/metrics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956048" y="5285231"/>
            <a:ext cx="6675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4455"/>
                </a:solidFill>
                <a:latin typeface="Calibri"/>
              </a:rPr>
              <a:t>Contador de requisicoes e tempo medio por instancia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20040" y="5760720"/>
            <a:ext cx="11521440" cy="594360"/>
          </a:xfrm>
          <a:prstGeom prst="rect">
            <a:avLst/>
          </a:prstGeom>
          <a:solidFill>
            <a:srgbClr val="E8F0FE"/>
          </a:solidFill>
          <a:ln w="12700">
            <a:solidFill>
              <a:srgbClr val="215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02920" y="580644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5CAA"/>
                </a:solidFill>
                <a:latin typeface="Calibri"/>
              </a:rPr>
              <a:t>Identificacao de instancia: todas as respostas incluem o campo "instanceId" no JSON e o cabecalho HTTP "x-instance-id".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17320"/>
            <a:ext cx="12188952" cy="54864"/>
          </a:xfrm>
          <a:prstGeom prst="rect">
            <a:avLst/>
          </a:prstGeom>
          <a:solidFill>
            <a:srgbClr val="3D9B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NGINX — Balanceamento Round-Robin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86868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3D9BE8"/>
                </a:solidFill>
                <a:latin typeface="Calibri"/>
              </a:rPr>
              <a:t>Como o balanceador distribui as requisicoes entre as instancias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83680"/>
            <a:ext cx="11704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BBCC"/>
                </a:solidFill>
                <a:latin typeface="Calibri"/>
              </a:rPr>
              <a:t>Arquitetura de Software — PUC Minas | 2025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645920"/>
            <a:ext cx="5486400" cy="4663440"/>
          </a:xfrm>
          <a:prstGeom prst="rect">
            <a:avLst/>
          </a:prstGeom>
          <a:solidFill>
            <a:srgbClr val="0D14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69164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D9BE8"/>
                </a:solidFill>
                <a:latin typeface="Calibri"/>
              </a:rPr>
              <a:t>nginx.conf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057400"/>
            <a:ext cx="5120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BD88B"/>
                </a:solidFill>
                <a:latin typeface="Calibri"/>
              </a:rPr>
              <a:t>upstream api_cluster {</a:t>
            </a:r>
          </a:p>
          <a:p>
            <a:pPr algn="l"/>
            <a:r>
              <a:rPr sz="1300" b="0">
                <a:solidFill>
                  <a:srgbClr val="8BD88B"/>
                </a:solidFill>
                <a:latin typeface="Calibri"/>
              </a:rPr>
              <a:t>    server app1:3000;</a:t>
            </a:r>
          </a:p>
          <a:p>
            <a:pPr algn="l"/>
            <a:r>
              <a:rPr sz="1300" b="0">
                <a:solidFill>
                  <a:srgbClr val="8BD88B"/>
                </a:solidFill>
                <a:latin typeface="Calibri"/>
              </a:rPr>
              <a:t>    server app2:3000;</a:t>
            </a:r>
          </a:p>
          <a:p>
            <a:pPr algn="l"/>
            <a:r>
              <a:rPr sz="1300" b="0">
                <a:solidFill>
                  <a:srgbClr val="8BD88B"/>
                </a:solidFill>
                <a:latin typeface="Calibri"/>
              </a:rPr>
              <a:t>}</a:t>
            </a:r>
          </a:p>
          <a:p>
            <a:pPr algn="l"/>
            <a:r>
              <a:rPr sz="1300" b="0">
                <a:solidFill>
                  <a:srgbClr val="8BD88B"/>
                </a:solidFill>
                <a:latin typeface="Calibri"/>
              </a:rPr>
              <a:t/>
            </a:r>
          </a:p>
          <a:p>
            <a:pPr algn="l"/>
            <a:r>
              <a:rPr sz="1300" b="0">
                <a:solidFill>
                  <a:srgbClr val="8BD88B"/>
                </a:solidFill>
                <a:latin typeface="Calibri"/>
              </a:rPr>
              <a:t>server {</a:t>
            </a:r>
          </a:p>
          <a:p>
            <a:pPr algn="l"/>
            <a:r>
              <a:rPr sz="1300" b="0">
                <a:solidFill>
                  <a:srgbClr val="8BD88B"/>
                </a:solidFill>
                <a:latin typeface="Calibri"/>
              </a:rPr>
              <a:t>    listen 80;</a:t>
            </a:r>
          </a:p>
          <a:p>
            <a:pPr algn="l"/>
            <a:r>
              <a:rPr sz="1300" b="0">
                <a:solidFill>
                  <a:srgbClr val="8BD88B"/>
                </a:solidFill>
                <a:latin typeface="Calibri"/>
              </a:rPr>
              <a:t/>
            </a:r>
          </a:p>
          <a:p>
            <a:pPr algn="l"/>
            <a:r>
              <a:rPr sz="1300" b="0">
                <a:solidFill>
                  <a:srgbClr val="8BD88B"/>
                </a:solidFill>
                <a:latin typeface="Calibri"/>
              </a:rPr>
              <a:t>    location /records {</a:t>
            </a:r>
          </a:p>
          <a:p>
            <a:pPr algn="l"/>
            <a:r>
              <a:rPr sz="1300" b="0">
                <a:solidFill>
                  <a:srgbClr val="8BD88B"/>
                </a:solidFill>
                <a:latin typeface="Calibri"/>
              </a:rPr>
              <a:t>        proxy_pass http://api_cluster;</a:t>
            </a:r>
          </a:p>
          <a:p>
            <a:pPr algn="l"/>
            <a:r>
              <a:rPr sz="1300" b="0">
                <a:solidFill>
                  <a:srgbClr val="8BD88B"/>
                </a:solidFill>
                <a:latin typeface="Calibri"/>
              </a:rPr>
              <a:t>    }</a:t>
            </a:r>
          </a:p>
          <a:p>
            <a:pPr algn="l"/>
            <a:r>
              <a:rPr sz="1300" b="0">
                <a:solidFill>
                  <a:srgbClr val="8BD88B"/>
                </a:solidFill>
                <a:latin typeface="Calibri"/>
              </a:rPr>
              <a:t>    location /health {</a:t>
            </a:r>
          </a:p>
          <a:p>
            <a:pPr algn="l"/>
            <a:r>
              <a:rPr sz="1300" b="0">
                <a:solidFill>
                  <a:srgbClr val="8BD88B"/>
                </a:solidFill>
                <a:latin typeface="Calibri"/>
              </a:rPr>
              <a:t>        proxy_pass http://api_cluster;</a:t>
            </a:r>
          </a:p>
          <a:p>
            <a:pPr algn="l"/>
            <a:r>
              <a:rPr sz="1300" b="0">
                <a:solidFill>
                  <a:srgbClr val="8BD88B"/>
                </a:solidFill>
                <a:latin typeface="Calibri"/>
              </a:rPr>
              <a:t>    }</a:t>
            </a:r>
          </a:p>
          <a:p>
            <a:pPr algn="l"/>
            <a:r>
              <a:rPr sz="1300" b="0">
                <a:solidFill>
                  <a:srgbClr val="8BD88B"/>
                </a:solidFill>
                <a:latin typeface="Calibri"/>
              </a:rPr>
              <a:t>    proxy_connect_timeout 1s;</a:t>
            </a:r>
          </a:p>
          <a:p>
            <a:pPr algn="l"/>
            <a:r>
              <a:rPr sz="1300" b="0">
                <a:solidFill>
                  <a:srgbClr val="8BD88B"/>
                </a:solidFill>
                <a:latin typeface="Calibri"/>
              </a:rPr>
              <a:t>}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1645920"/>
            <a:ext cx="5760720" cy="4663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63640" y="1719072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D1B3E"/>
                </a:solidFill>
                <a:latin typeface="Calibri"/>
              </a:rPr>
              <a:t>Como funciona o Round-Robin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26480" y="2121408"/>
            <a:ext cx="5760720" cy="36576"/>
          </a:xfrm>
          <a:prstGeom prst="rect">
            <a:avLst/>
          </a:prstGeom>
          <a:solidFill>
            <a:srgbClr val="3D9B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91072" y="2240280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15CAA"/>
                </a:solidFill>
                <a:latin typeface="Calibri"/>
              </a:rPr>
              <a:t>Distribuicao ciclica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91072" y="2578608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55"/>
                </a:solidFill>
                <a:latin typeface="Calibri"/>
              </a:rPr>
              <a:t>Req 1 para app-1, req 2 para app-2, req 3 para app-1...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91072" y="3044952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15CAA"/>
                </a:solidFill>
                <a:latin typeface="Calibri"/>
              </a:rPr>
              <a:t>Carga equitativa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91072" y="3383280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55"/>
                </a:solidFill>
                <a:latin typeface="Calibri"/>
              </a:rPr>
              <a:t>Cada instancia recebe aproximadamente 50% das requisicoes.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91072" y="3849624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15CAA"/>
                </a:solidFill>
                <a:latin typeface="Calibri"/>
              </a:rPr>
              <a:t>Deteccao de falha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91072" y="4187952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55"/>
                </a:solidFill>
                <a:latin typeface="Calibri"/>
              </a:rPr>
              <a:t>Timeout de 1s. Instancia indisponivel e removida do pool.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91072" y="4654296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15CAA"/>
                </a:solidFill>
                <a:latin typeface="Calibri"/>
              </a:rPr>
              <a:t>Recuperacao automatica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91072" y="4992624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55"/>
                </a:solidFill>
                <a:latin typeface="Calibri"/>
              </a:rPr>
              <a:t>Ao voltar, a instancia e reincorporada sem intervencao manual.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91072" y="5458968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15CAA"/>
                </a:solidFill>
                <a:latin typeface="Calibri"/>
              </a:rPr>
              <a:t>Stateless obrigatorio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91072" y="5797296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55"/>
                </a:solidFill>
                <a:latin typeface="Calibri"/>
              </a:rPr>
              <a:t>Round-robin nao garante mesma instancia para mesmo usuario.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17320"/>
            <a:ext cx="12188952" cy="54864"/>
          </a:xfrm>
          <a:prstGeom prst="rect">
            <a:avLst/>
          </a:prstGeom>
          <a:solidFill>
            <a:srgbClr val="3D9B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Monitoramento e Metricas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86868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3D9BE8"/>
                </a:solidFill>
                <a:latin typeface="Calibri"/>
              </a:rPr>
              <a:t>Observabilidade por instancia e dashboard em tempo real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83680"/>
            <a:ext cx="11704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BBCC"/>
                </a:solidFill>
                <a:latin typeface="Calibri"/>
              </a:rPr>
              <a:t>Arquitetura de Software — PUC Minas | 2025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627632"/>
            <a:ext cx="3749039" cy="4663440"/>
          </a:xfrm>
          <a:prstGeom prst="rect">
            <a:avLst/>
          </a:prstGeom>
          <a:solidFill>
            <a:srgbClr val="FFFFFF"/>
          </a:solidFill>
          <a:ln w="19050">
            <a:solidFill>
              <a:srgbClr val="215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627632"/>
            <a:ext cx="3749039" cy="502920"/>
          </a:xfrm>
          <a:prstGeom prst="rect">
            <a:avLst/>
          </a:prstGeom>
          <a:solidFill>
            <a:srgbClr val="21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1673352"/>
            <a:ext cx="3520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/health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" y="2212848"/>
            <a:ext cx="33832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44455"/>
                </a:solidFill>
                <a:latin typeface="Calibri"/>
              </a:rPr>
              <a:t>Saude da instancia</a:t>
            </a:r>
          </a:p>
          <a:p>
            <a:pPr algn="l"/>
            <a:r>
              <a:rPr sz="1400" b="0">
                <a:solidFill>
                  <a:srgbClr val="444455"/>
                </a:solidFill>
                <a:latin typeface="Calibri"/>
              </a:rPr>
              <a:t/>
            </a:r>
          </a:p>
          <a:p>
            <a:pPr algn="l"/>
            <a:r>
              <a:rPr sz="1400" b="0">
                <a:solidFill>
                  <a:srgbClr val="444455"/>
                </a:solidFill>
                <a:latin typeface="Calibri"/>
              </a:rPr>
              <a:t>- status: ok / error</a:t>
            </a:r>
          </a:p>
          <a:p>
            <a:pPr algn="l"/>
            <a:r>
              <a:rPr sz="1400" b="0">
                <a:solidFill>
                  <a:srgbClr val="444455"/>
                </a:solidFill>
                <a:latin typeface="Calibri"/>
              </a:rPr>
              <a:t>- instanceId: app-1 ou app-2</a:t>
            </a:r>
          </a:p>
          <a:p>
            <a:pPr algn="l"/>
            <a:r>
              <a:rPr sz="1400" b="0">
                <a:solidFill>
                  <a:srgbClr val="444455"/>
                </a:solidFill>
                <a:latin typeface="Calibri"/>
              </a:rPr>
              <a:t>- db: connected / error</a:t>
            </a:r>
          </a:p>
          <a:p>
            <a:pPr algn="l"/>
            <a:r>
              <a:rPr sz="1400" b="0">
                <a:solidFill>
                  <a:srgbClr val="444455"/>
                </a:solidFill>
                <a:latin typeface="Calibri"/>
              </a:rPr>
              <a:t/>
            </a:r>
          </a:p>
          <a:p>
            <a:pPr algn="l"/>
            <a:r>
              <a:rPr sz="1400" b="0">
                <a:solidFill>
                  <a:srgbClr val="444455"/>
                </a:solidFill>
                <a:latin typeface="Calibri"/>
              </a:rPr>
              <a:t>Usado pelo NGINX para</a:t>
            </a:r>
          </a:p>
          <a:p>
            <a:pPr algn="l"/>
            <a:r>
              <a:rPr sz="1400" b="0">
                <a:solidFill>
                  <a:srgbClr val="444455"/>
                </a:solidFill>
                <a:latin typeface="Calibri"/>
              </a:rPr>
              <a:t>detectar instancias vivas.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79" y="1627632"/>
            <a:ext cx="3749039" cy="4663440"/>
          </a:xfrm>
          <a:prstGeom prst="rect">
            <a:avLst/>
          </a:prstGeom>
          <a:solidFill>
            <a:srgbClr val="FFFFFF"/>
          </a:solidFill>
          <a:ln w="19050">
            <a:solidFill>
              <a:srgbClr val="1A7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97679" y="1627632"/>
            <a:ext cx="3749039" cy="502920"/>
          </a:xfrm>
          <a:prstGeom prst="rect">
            <a:avLst/>
          </a:prstGeom>
          <a:solidFill>
            <a:srgbClr val="1A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07407" y="1673352"/>
            <a:ext cx="3520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/metrics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62271" y="2212848"/>
            <a:ext cx="33832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44455"/>
                </a:solidFill>
                <a:latin typeface="Calibri"/>
              </a:rPr>
              <a:t>Metricas por instancia</a:t>
            </a:r>
          </a:p>
          <a:p>
            <a:pPr algn="l"/>
            <a:r>
              <a:rPr sz="1400" b="0">
                <a:solidFill>
                  <a:srgbClr val="444455"/>
                </a:solidFill>
                <a:latin typeface="Calibri"/>
              </a:rPr>
              <a:t/>
            </a:r>
          </a:p>
          <a:p>
            <a:pPr algn="l"/>
            <a:r>
              <a:rPr sz="1400" b="0">
                <a:solidFill>
                  <a:srgbClr val="444455"/>
                </a:solidFill>
                <a:latin typeface="Calibri"/>
              </a:rPr>
              <a:t>- instanceId</a:t>
            </a:r>
          </a:p>
          <a:p>
            <a:pPr algn="l"/>
            <a:r>
              <a:rPr sz="1400" b="0">
                <a:solidFill>
                  <a:srgbClr val="444455"/>
                </a:solidFill>
                <a:latin typeface="Calibri"/>
              </a:rPr>
              <a:t>- requestCount</a:t>
            </a:r>
          </a:p>
          <a:p>
            <a:pPr algn="l"/>
            <a:r>
              <a:rPr sz="1400" b="0">
                <a:solidFill>
                  <a:srgbClr val="444455"/>
                </a:solidFill>
                <a:latin typeface="Calibri"/>
              </a:rPr>
              <a:t>- averageResponseMs</a:t>
            </a:r>
          </a:p>
          <a:p>
            <a:pPr algn="l"/>
            <a:r>
              <a:rPr sz="1400" b="0">
                <a:solidFill>
                  <a:srgbClr val="444455"/>
                </a:solidFill>
                <a:latin typeface="Calibri"/>
              </a:rPr>
              <a:t/>
            </a:r>
          </a:p>
          <a:p>
            <a:pPr algn="l"/>
            <a:r>
              <a:rPr sz="1400" b="0">
                <a:solidFill>
                  <a:srgbClr val="444455"/>
                </a:solidFill>
                <a:latin typeface="Calibri"/>
              </a:rPr>
              <a:t>Cada instancia conta</a:t>
            </a:r>
          </a:p>
          <a:p>
            <a:pPr algn="l"/>
            <a:r>
              <a:rPr sz="1400" b="0">
                <a:solidFill>
                  <a:srgbClr val="444455"/>
                </a:solidFill>
                <a:latin typeface="Calibri"/>
              </a:rPr>
              <a:t>suas proprias requisicoes.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75319" y="1627632"/>
            <a:ext cx="3749039" cy="4663440"/>
          </a:xfrm>
          <a:prstGeom prst="rect">
            <a:avLst/>
          </a:prstGeom>
          <a:solidFill>
            <a:srgbClr val="FFFFFF"/>
          </a:solidFill>
          <a:ln w="19050">
            <a:solidFill>
              <a:srgbClr val="0D1B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75319" y="1627632"/>
            <a:ext cx="3749039" cy="50292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85047" y="1673352"/>
            <a:ext cx="3520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Frontend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39911" y="2212848"/>
            <a:ext cx="33832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44455"/>
                </a:solidFill>
                <a:latin typeface="Calibri"/>
              </a:rPr>
              <a:t>Dashboard em tempo real</a:t>
            </a:r>
          </a:p>
          <a:p>
            <a:pPr algn="l"/>
            <a:r>
              <a:rPr sz="1400" b="0">
                <a:solidFill>
                  <a:srgbClr val="444455"/>
                </a:solidFill>
                <a:latin typeface="Calibri"/>
              </a:rPr>
              <a:t/>
            </a:r>
          </a:p>
          <a:p>
            <a:pPr algn="l"/>
            <a:r>
              <a:rPr sz="1400" b="0">
                <a:solidFill>
                  <a:srgbClr val="444455"/>
                </a:solidFill>
                <a:latin typeface="Calibri"/>
              </a:rPr>
              <a:t>- Status verde/vermelho</a:t>
            </a:r>
          </a:p>
          <a:p>
            <a:pPr algn="l"/>
            <a:r>
              <a:rPr sz="1400" b="0">
                <a:solidFill>
                  <a:srgbClr val="444455"/>
                </a:solidFill>
                <a:latin typeface="Calibri"/>
              </a:rPr>
              <a:t>- Grafico de distribuicao</a:t>
            </a:r>
          </a:p>
          <a:p>
            <a:pPr algn="l"/>
            <a:r>
              <a:rPr sz="1400" b="0">
                <a:solidFill>
                  <a:srgbClr val="444455"/>
                </a:solidFill>
                <a:latin typeface="Calibri"/>
              </a:rPr>
              <a:t>- Log de cada requisicao</a:t>
            </a:r>
          </a:p>
          <a:p>
            <a:pPr algn="l"/>
            <a:r>
              <a:rPr sz="1400" b="0">
                <a:solidFill>
                  <a:srgbClr val="444455"/>
                </a:solidFill>
                <a:latin typeface="Calibri"/>
              </a:rPr>
              <a:t>- Teste de carga integrado</a:t>
            </a:r>
          </a:p>
          <a:p>
            <a:pPr algn="l"/>
            <a:r>
              <a:rPr sz="1400" b="0">
                <a:solidFill>
                  <a:srgbClr val="444455"/>
                </a:solidFill>
                <a:latin typeface="Calibri"/>
              </a:rPr>
              <a:t/>
            </a:r>
          </a:p>
          <a:p>
            <a:pPr algn="l"/>
            <a:r>
              <a:rPr sz="1400" b="0">
                <a:solidFill>
                  <a:srgbClr val="444455"/>
                </a:solidFill>
                <a:latin typeface="Calibri"/>
              </a:rPr>
              <a:t>Atualiza a cada 8 segundos.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5687568"/>
            <a:ext cx="11521440" cy="658368"/>
          </a:xfrm>
          <a:prstGeom prst="rect">
            <a:avLst/>
          </a:prstGeom>
          <a:solidFill>
            <a:srgbClr val="E8F4EA"/>
          </a:solidFill>
          <a:ln w="12700">
            <a:solidFill>
              <a:srgbClr val="1A7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5733288"/>
            <a:ext cx="11155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7A3C"/>
                </a:solidFill>
                <a:latin typeface="Calibri"/>
              </a:rPr>
              <a:t>Metricas obrigatorias cobertas: multiplas instancias, distribuicao de requisicoes, identificacao de instancia, tempo medio de resposta, comportamento sob carga.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17320"/>
            <a:ext cx="12188952" cy="54864"/>
          </a:xfrm>
          <a:prstGeom prst="rect">
            <a:avLst/>
          </a:prstGeom>
          <a:solidFill>
            <a:srgbClr val="3D9B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Demonstracao: Distribuicao de Carga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86868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3D9BE8"/>
                </a:solidFill>
                <a:latin typeface="Calibri"/>
              </a:rPr>
              <a:t>20 requisicoes simultaneas distribuidas entre as instancias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83680"/>
            <a:ext cx="11704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BBCC"/>
                </a:solidFill>
                <a:latin typeface="Calibri"/>
              </a:rPr>
              <a:t>Arquitetura de Software — PUC Minas | 2025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627632"/>
            <a:ext cx="6858000" cy="4663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691640"/>
            <a:ext cx="6492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D1B3E"/>
                </a:solidFill>
                <a:latin typeface="Calibri"/>
              </a:rPr>
              <a:t>Resultado: 20 requisicoes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33172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1B3E"/>
                </a:solidFill>
                <a:latin typeface="Calibri"/>
              </a:rPr>
              <a:t>app-1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920240" y="2331720"/>
            <a:ext cx="4114800" cy="548640"/>
          </a:xfrm>
          <a:prstGeom prst="rect">
            <a:avLst/>
          </a:prstGeom>
          <a:solidFill>
            <a:srgbClr val="21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011680" y="2377440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10 requisicoes   50%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10896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1B3E"/>
                </a:solidFill>
                <a:latin typeface="Calibri"/>
              </a:rPr>
              <a:t>app-2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920240" y="3108960"/>
            <a:ext cx="4114800" cy="548640"/>
          </a:xfrm>
          <a:prstGeom prst="rect">
            <a:avLst/>
          </a:prstGeom>
          <a:solidFill>
            <a:srgbClr val="1A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011680" y="3154680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10 requisicoes   50%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3840480"/>
            <a:ext cx="6492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4455"/>
                </a:solidFill>
                <a:latin typeface="Calibri"/>
              </a:rPr>
              <a:t>Distribuicao perfeita: round-robin alterna entre instancias a cada requisicao.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4480560"/>
            <a:ext cx="6492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3E"/>
                </a:solidFill>
                <a:latin typeface="Calibri"/>
              </a:rPr>
              <a:t>Extrato do log de requisicoes: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4828032"/>
            <a:ext cx="6400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44"/>
                </a:solidFill>
                <a:latin typeface="Calibri"/>
              </a:rPr>
              <a:t>  REQ  1  -&gt;  app-1   |   15 ms</a:t>
            </a:r>
          </a:p>
          <a:p>
            <a:pPr algn="l"/>
            <a:r>
              <a:rPr sz="1200" b="0">
                <a:solidFill>
                  <a:srgbClr val="222244"/>
                </a:solidFill>
                <a:latin typeface="Calibri"/>
              </a:rPr>
              <a:t>  REQ  2  -&gt;  app-2   |   12 ms</a:t>
            </a:r>
          </a:p>
          <a:p>
            <a:pPr algn="l"/>
            <a:r>
              <a:rPr sz="1200" b="0">
                <a:solidFill>
                  <a:srgbClr val="222244"/>
                </a:solidFill>
                <a:latin typeface="Calibri"/>
              </a:rPr>
              <a:t>  REQ  3  -&gt;  app-1   |   14 ms</a:t>
            </a:r>
          </a:p>
          <a:p>
            <a:pPr algn="l"/>
            <a:r>
              <a:rPr sz="1200" b="0">
                <a:solidFill>
                  <a:srgbClr val="222244"/>
                </a:solidFill>
                <a:latin typeface="Calibri"/>
              </a:rPr>
              <a:t>  REQ  4  -&gt;  app-2   |   13 ms</a:t>
            </a:r>
          </a:p>
          <a:p>
            <a:pPr algn="l"/>
            <a:r>
              <a:rPr sz="1200" b="0">
                <a:solidFill>
                  <a:srgbClr val="222244"/>
                </a:solidFill>
                <a:latin typeface="Calibri"/>
              </a:rPr>
              <a:t>  REQ  5  -&gt;  app-1   |   16 ms</a:t>
            </a:r>
          </a:p>
          <a:p>
            <a:pPr algn="l"/>
            <a:r>
              <a:rPr sz="1200" b="0">
                <a:solidFill>
                  <a:srgbClr val="222244"/>
                </a:solidFill>
                <a:latin typeface="Calibri"/>
              </a:rPr>
              <a:t>  ...  (padrao se repete para todas as 20)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98079" y="1627632"/>
            <a:ext cx="4434840" cy="466344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62672" y="1719072"/>
            <a:ext cx="4160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O que isso prova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498079" y="2121408"/>
            <a:ext cx="4434840" cy="36576"/>
          </a:xfrm>
          <a:prstGeom prst="rect">
            <a:avLst/>
          </a:prstGeom>
          <a:solidFill>
            <a:srgbClr val="3D9B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62672" y="2212848"/>
            <a:ext cx="41605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DDF0"/>
                </a:solidFill>
                <a:latin typeface="Calibri"/>
              </a:rPr>
              <a:t>O NGINX funciona como ponto unico de entrada e distribui as requisicoes automaticamente.</a:t>
            </a:r>
          </a:p>
          <a:p>
            <a:pPr algn="l"/>
            <a:r>
              <a:rPr sz="1300" b="0">
                <a:solidFill>
                  <a:srgbClr val="CCDDF0"/>
                </a:solidFill>
                <a:latin typeface="Calibri"/>
              </a:rPr>
              <a:t/>
            </a:r>
          </a:p>
          <a:p>
            <a:pPr algn="l"/>
            <a:r>
              <a:rPr sz="1300" b="0">
                <a:solidFill>
                  <a:srgbClr val="CCDDF0"/>
                </a:solidFill>
                <a:latin typeface="Calibri"/>
              </a:rPr>
              <a:t>Nenhuma instancia fica sobrecarregada enquanto a outra fica ociosa.</a:t>
            </a:r>
          </a:p>
          <a:p>
            <a:pPr algn="l"/>
            <a:r>
              <a:rPr sz="1300" b="0">
                <a:solidFill>
                  <a:srgbClr val="CCDDF0"/>
                </a:solidFill>
                <a:latin typeface="Calibri"/>
              </a:rPr>
              <a:t/>
            </a:r>
          </a:p>
          <a:p>
            <a:pPr algn="l"/>
            <a:r>
              <a:rPr sz="1300" b="0">
                <a:solidFill>
                  <a:srgbClr val="CCDDF0"/>
                </a:solidFill>
                <a:latin typeface="Calibri"/>
              </a:rPr>
              <a:t>O campo instanceId em cada resposta confirma qual instancia processou a requisicao.</a:t>
            </a:r>
          </a:p>
          <a:p>
            <a:pPr algn="l"/>
            <a:r>
              <a:rPr sz="1300" b="0">
                <a:solidFill>
                  <a:srgbClr val="CCDDF0"/>
                </a:solidFill>
                <a:latin typeface="Calibri"/>
              </a:rPr>
              <a:t/>
            </a:r>
          </a:p>
          <a:p>
            <a:pPr algn="l"/>
            <a:r>
              <a:rPr sz="1300" b="0">
                <a:solidFill>
                  <a:srgbClr val="CCDDF0"/>
                </a:solidFill>
                <a:latin typeface="Calibri"/>
              </a:rPr>
              <a:t>Com N instancias, cada uma processa 1/N da carga total.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17320"/>
            <a:ext cx="12188952" cy="54864"/>
          </a:xfrm>
          <a:prstGeom prst="rect">
            <a:avLst/>
          </a:prstGeom>
          <a:solidFill>
            <a:srgbClr val="3D9B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Demonstracao: Resiliencia a Falhas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86868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3D9BE8"/>
                </a:solidFill>
                <a:latin typeface="Calibri"/>
              </a:rPr>
              <a:t>Comportamento do sistema quando uma instancia e removida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83680"/>
            <a:ext cx="11704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BBCC"/>
                </a:solidFill>
                <a:latin typeface="Calibri"/>
              </a:rPr>
              <a:t>Arquitetura de Software — PUC Minas | 2025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627632"/>
            <a:ext cx="11521440" cy="475488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664208"/>
            <a:ext cx="11247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PASSO 1 — Sistema em operacao normal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176272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44455"/>
                </a:solidFill>
                <a:latin typeface="Calibri"/>
              </a:rPr>
              <a:t>Duas instancias ativas. NGINX distribui em round-robin. 50% para cada instancia.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2743200"/>
            <a:ext cx="11521440" cy="47548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2779776"/>
            <a:ext cx="11247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PASSO 2 — Derrubar app-1  (docker compose stop app1)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29184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44455"/>
                </a:solidFill>
                <a:latin typeface="Calibri"/>
              </a:rPr>
              <a:t>NGINX tenta conectar em app-1. Timeout de 1 segundo. Instancia marcada como indisponivel.</a:t>
            </a:r>
          </a:p>
          <a:p>
            <a:pPr algn="l"/>
            <a:r>
              <a:rPr sz="1400" b="0">
                <a:solidFill>
                  <a:srgbClr val="444455"/>
                </a:solidFill>
                <a:latin typeface="Calibri"/>
              </a:rPr>
              <a:t>100% das requisicoes passam automaticamente para app-2. Nenhuma requisicao e perdida pelo usuario.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4206240"/>
            <a:ext cx="11521440" cy="475488"/>
          </a:xfrm>
          <a:prstGeom prst="rect">
            <a:avLst/>
          </a:prstGeom>
          <a:solidFill>
            <a:srgbClr val="1A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4242816"/>
            <a:ext cx="11247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PASSO 3 — Restaurar app-1  (docker compose start app1)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75488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44455"/>
                </a:solidFill>
                <a:latin typeface="Calibri"/>
              </a:rPr>
              <a:t>app-1 volta ao ar. NGINX detecta a recuperacao e a reincorpora ao pool.</a:t>
            </a:r>
          </a:p>
          <a:p>
            <a:pPr algn="l"/>
            <a:r>
              <a:rPr sz="1400" b="0">
                <a:solidFill>
                  <a:srgbClr val="444455"/>
                </a:solidFill>
                <a:latin typeface="Calibri"/>
              </a:rPr>
              <a:t>Distribuicao round-robin e retomada automaticamente sem nenhuma configuracao manual.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5650992"/>
            <a:ext cx="11521440" cy="658368"/>
          </a:xfrm>
          <a:prstGeom prst="rect">
            <a:avLst/>
          </a:prstGeom>
          <a:solidFill>
            <a:srgbClr val="E8F4EA"/>
          </a:solidFill>
          <a:ln w="15240">
            <a:solidFill>
              <a:srgbClr val="1A7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5687568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7A3C"/>
                </a:solidFill>
                <a:latin typeface="Calibri"/>
              </a:rPr>
              <a:t>Conclusao: A escalabilidade horizontal elimina o ponto unico de falha. O servico permanece disponivel mesmo com perda de instancias — imposivel em uma arquitetura de instancia unica.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17320"/>
            <a:ext cx="12188952" cy="54864"/>
          </a:xfrm>
          <a:prstGeom prst="rect">
            <a:avLst/>
          </a:prstGeom>
          <a:solidFill>
            <a:srgbClr val="3D9B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Trade-offs e Decisoes Arquiteturais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86868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3D9BE8"/>
                </a:solidFill>
                <a:latin typeface="Calibri"/>
              </a:rPr>
              <a:t>Vantagens, limitacoes e justificativas das escolhas tecnicas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83680"/>
            <a:ext cx="11704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BBCC"/>
                </a:solidFill>
                <a:latin typeface="Calibri"/>
              </a:rPr>
              <a:t>Arquitetura de Software — PUC Minas | 2025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627632"/>
            <a:ext cx="5394960" cy="4663440"/>
          </a:xfrm>
          <a:prstGeom prst="rect">
            <a:avLst/>
          </a:prstGeom>
          <a:solidFill>
            <a:srgbClr val="FFFFFF"/>
          </a:solidFill>
          <a:ln w="16510">
            <a:solidFill>
              <a:srgbClr val="1A7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627632"/>
            <a:ext cx="5394960" cy="475488"/>
          </a:xfrm>
          <a:prstGeom prst="rect">
            <a:avLst/>
          </a:prstGeom>
          <a:solidFill>
            <a:srgbClr val="1A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664208"/>
            <a:ext cx="51663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Vantagens da solucao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176272"/>
            <a:ext cx="5074920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444455"/>
                </a:solidFill>
                <a:latin typeface="Calibri"/>
              </a:rPr>
              <a:t>Alta disponibilidade</a:t>
            </a:r>
          </a:p>
          <a:p>
            <a:pPr algn="l"/>
            <a:r>
              <a:rPr sz="1350" b="0">
                <a:solidFill>
                  <a:srgbClr val="444455"/>
                </a:solidFill>
                <a:latin typeface="Calibri"/>
              </a:rPr>
              <a:t>Falha de uma instancia nao derruba o servico.</a:t>
            </a:r>
          </a:p>
          <a:p>
            <a:pPr algn="l"/>
            <a:r>
              <a:rPr sz="1350" b="0">
                <a:solidFill>
                  <a:srgbClr val="444455"/>
                </a:solidFill>
                <a:latin typeface="Calibri"/>
              </a:rPr>
              <a:t/>
            </a:r>
          </a:p>
          <a:p>
            <a:pPr algn="l"/>
            <a:r>
              <a:rPr sz="1350" b="0">
                <a:solidFill>
                  <a:srgbClr val="444455"/>
                </a:solidFill>
                <a:latin typeface="Calibri"/>
              </a:rPr>
              <a:t>Escalabilidade linear</a:t>
            </a:r>
          </a:p>
          <a:p>
            <a:pPr algn="l"/>
            <a:r>
              <a:rPr sz="1350" b="0">
                <a:solidFill>
                  <a:srgbClr val="444455"/>
                </a:solidFill>
                <a:latin typeface="Calibri"/>
              </a:rPr>
              <a:t>Adicionar instancias aumenta throughput proporcionalmente.</a:t>
            </a:r>
          </a:p>
          <a:p>
            <a:pPr algn="l"/>
            <a:r>
              <a:rPr sz="1350" b="0">
                <a:solidFill>
                  <a:srgbClr val="444455"/>
                </a:solidFill>
                <a:latin typeface="Calibri"/>
              </a:rPr>
              <a:t/>
            </a:r>
          </a:p>
          <a:p>
            <a:pPr algn="l"/>
            <a:r>
              <a:rPr sz="1350" b="0">
                <a:solidFill>
                  <a:srgbClr val="444455"/>
                </a:solidFill>
                <a:latin typeface="Calibri"/>
              </a:rPr>
              <a:t>Deploys sem downtime</a:t>
            </a:r>
          </a:p>
          <a:p>
            <a:pPr algn="l"/>
            <a:r>
              <a:rPr sz="1350" b="0">
                <a:solidFill>
                  <a:srgbClr val="444455"/>
                </a:solidFill>
                <a:latin typeface="Calibri"/>
              </a:rPr>
              <a:t>Atualizar uma instancia por vez (rolling update).</a:t>
            </a:r>
          </a:p>
          <a:p>
            <a:pPr algn="l"/>
            <a:r>
              <a:rPr sz="1350" b="0">
                <a:solidFill>
                  <a:srgbClr val="444455"/>
                </a:solidFill>
                <a:latin typeface="Calibri"/>
              </a:rPr>
              <a:t/>
            </a:r>
          </a:p>
          <a:p>
            <a:pPr algn="l"/>
            <a:r>
              <a:rPr sz="1350" b="0">
                <a:solidFill>
                  <a:srgbClr val="444455"/>
                </a:solidFill>
                <a:latin typeface="Calibri"/>
              </a:rPr>
              <a:t>Custo granular</a:t>
            </a:r>
          </a:p>
          <a:p>
            <a:pPr algn="l"/>
            <a:r>
              <a:rPr sz="1350" b="0">
                <a:solidFill>
                  <a:srgbClr val="444455"/>
                </a:solidFill>
                <a:latin typeface="Calibri"/>
              </a:rPr>
              <a:t>Alocar apenas as instancias necessarias para a carga atual.</a:t>
            </a:r>
          </a:p>
          <a:p>
            <a:pPr algn="l"/>
            <a:r>
              <a:rPr sz="1350" b="0">
                <a:solidFill>
                  <a:srgbClr val="444455"/>
                </a:solidFill>
                <a:latin typeface="Calibri"/>
              </a:rPr>
              <a:t/>
            </a:r>
          </a:p>
          <a:p>
            <a:pPr algn="l"/>
            <a:r>
              <a:rPr sz="1350" b="0">
                <a:solidFill>
                  <a:srgbClr val="444455"/>
                </a:solidFill>
                <a:latin typeface="Calibri"/>
              </a:rPr>
              <a:t>Isolamento de falhas</a:t>
            </a:r>
          </a:p>
          <a:p>
            <a:pPr algn="l"/>
            <a:r>
              <a:rPr sz="1350" b="0">
                <a:solidFill>
                  <a:srgbClr val="444455"/>
                </a:solidFill>
                <a:latin typeface="Calibri"/>
              </a:rPr>
              <a:t>Problema em uma instancia nao propaga para as outras.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194560"/>
            <a:ext cx="5074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1A7A3C"/>
                </a:solidFill>
                <a:latin typeface="Calibri"/>
              </a:rPr>
              <a:t>Alta disponibilidade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2898648"/>
            <a:ext cx="5074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1A7A3C"/>
                </a:solidFill>
                <a:latin typeface="Calibri"/>
              </a:rPr>
              <a:t>Escalabilidade linear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3593592"/>
            <a:ext cx="5074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1A7A3C"/>
                </a:solidFill>
                <a:latin typeface="Calibri"/>
              </a:rPr>
              <a:t>Deploys sem downtime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4297680"/>
            <a:ext cx="5074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1A7A3C"/>
                </a:solidFill>
                <a:latin typeface="Calibri"/>
              </a:rPr>
              <a:t>Custo granular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5001768"/>
            <a:ext cx="5074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1A7A3C"/>
                </a:solidFill>
                <a:latin typeface="Calibri"/>
              </a:rPr>
              <a:t>Isolamento de falhas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72200" y="1627632"/>
            <a:ext cx="5715000" cy="4663440"/>
          </a:xfrm>
          <a:prstGeom prst="rect">
            <a:avLst/>
          </a:prstGeom>
          <a:solidFill>
            <a:srgbClr val="FFFFFF"/>
          </a:solidFill>
          <a:ln w="16510">
            <a:solidFill>
              <a:srgbClr val="D4A0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72200" y="1627632"/>
            <a:ext cx="5715000" cy="475488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9360" y="1664208"/>
            <a:ext cx="54864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Limitacoes e consideracoes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2176272"/>
            <a:ext cx="5394960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80" b="0">
                <a:solidFill>
                  <a:srgbClr val="444455"/>
                </a:solidFill>
                <a:latin typeface="Calibri"/>
              </a:rPr>
              <a:t>Banco de dados: novo gargalo</a:t>
            </a:r>
          </a:p>
          <a:p>
            <a:pPr algn="l"/>
            <a:r>
              <a:rPr sz="1280" b="0">
                <a:solidFill>
                  <a:srgbClr val="444455"/>
                </a:solidFill>
                <a:latin typeface="Calibri"/>
              </a:rPr>
              <a:t>Com muitas instancias, o BD pode se tornar o ponto de estrangulamento. Solucao: connection pooling, replicas de leitura.</a:t>
            </a:r>
          </a:p>
          <a:p>
            <a:pPr algn="l"/>
            <a:r>
              <a:rPr sz="1280" b="0">
                <a:solidFill>
                  <a:srgbClr val="444455"/>
                </a:solidFill>
                <a:latin typeface="Calibri"/>
              </a:rPr>
              <a:t/>
            </a:r>
          </a:p>
          <a:p>
            <a:pPr algn="l"/>
            <a:r>
              <a:rPr sz="1280" b="0">
                <a:solidFill>
                  <a:srgbClr val="444455"/>
                </a:solidFill>
                <a:latin typeface="Calibri"/>
              </a:rPr>
              <a:t>Consistencia eventual</a:t>
            </a:r>
          </a:p>
          <a:p>
            <a:pPr algn="l"/>
            <a:r>
              <a:rPr sz="1280" b="0">
                <a:solidFill>
                  <a:srgbClr val="444455"/>
                </a:solidFill>
                <a:latin typeface="Calibri"/>
              </a:rPr>
              <a:t>Em cenarios com cache distribuido, pode haver momentos de leitura de dados ligeiramente desatualizados.</a:t>
            </a:r>
          </a:p>
          <a:p>
            <a:pPr algn="l"/>
            <a:r>
              <a:rPr sz="1280" b="0">
                <a:solidFill>
                  <a:srgbClr val="444455"/>
                </a:solidFill>
                <a:latin typeface="Calibri"/>
              </a:rPr>
              <a:t/>
            </a:r>
          </a:p>
          <a:p>
            <a:pPr algn="l"/>
            <a:r>
              <a:rPr sz="1280" b="0">
                <a:solidFill>
                  <a:srgbClr val="444455"/>
                </a:solidFill>
                <a:latin typeface="Calibri"/>
              </a:rPr>
              <a:t>Complexidade operacional</a:t>
            </a:r>
          </a:p>
          <a:p>
            <a:pPr algn="l"/>
            <a:r>
              <a:rPr sz="1280" b="0">
                <a:solidFill>
                  <a:srgbClr val="444455"/>
                </a:solidFill>
                <a:latin typeface="Calibri"/>
              </a:rPr>
              <a:t>Mais componentes (LB, multiplas instancias) exigem monitoramento mais sofisticado.</a:t>
            </a:r>
          </a:p>
          <a:p>
            <a:pPr algn="l"/>
            <a:r>
              <a:rPr sz="1280" b="0">
                <a:solidFill>
                  <a:srgbClr val="444455"/>
                </a:solidFill>
                <a:latin typeface="Calibri"/>
              </a:rPr>
              <a:t/>
            </a:r>
          </a:p>
          <a:p>
            <a:pPr algn="l"/>
            <a:r>
              <a:rPr sz="1280" b="0">
                <a:solidFill>
                  <a:srgbClr val="444455"/>
                </a:solidFill>
                <a:latin typeface="Calibri"/>
              </a:rPr>
              <a:t>NGINX como SPOF</a:t>
            </a:r>
          </a:p>
          <a:p>
            <a:pPr algn="l"/>
            <a:r>
              <a:rPr sz="1280" b="0">
                <a:solidFill>
                  <a:srgbClr val="444455"/>
                </a:solidFill>
                <a:latin typeface="Calibri"/>
              </a:rPr>
              <a:t>O balanceador em si pode ser o ponto unico de falha. Solucao: NGINX em cluster (Active-Passive).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2194560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80" b="1" i="0">
                <a:solidFill>
                  <a:srgbClr val="D4A017"/>
                </a:solidFill>
                <a:latin typeface="Calibri"/>
              </a:rPr>
              <a:t>Banco de dados: novo gargalo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2990088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80" b="1" i="0">
                <a:solidFill>
                  <a:srgbClr val="D4A017"/>
                </a:solidFill>
                <a:latin typeface="Calibri"/>
              </a:rPr>
              <a:t>Consistencia eventual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5080" y="3730752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80" b="1" i="0">
                <a:solidFill>
                  <a:srgbClr val="D4A017"/>
                </a:solidFill>
                <a:latin typeface="Calibri"/>
              </a:rPr>
              <a:t>Complexidade operacional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462272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80" b="1" i="0">
                <a:solidFill>
                  <a:srgbClr val="D4A017"/>
                </a:solidFill>
                <a:latin typeface="Calibri"/>
              </a:rPr>
              <a:t>NGINX como SPOF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02920" cy="6858000"/>
          </a:xfrm>
          <a:prstGeom prst="rect">
            <a:avLst/>
          </a:prstGeom>
          <a:solidFill>
            <a:srgbClr val="21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0"/>
            <a:ext cx="54864" cy="6858000"/>
          </a:xfrm>
          <a:prstGeom prst="rect">
            <a:avLst/>
          </a:prstGeom>
          <a:solidFill>
            <a:srgbClr val="3D9B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035040"/>
            <a:ext cx="12188952" cy="822960"/>
          </a:xfrm>
          <a:prstGeom prst="rect">
            <a:avLst/>
          </a:prstGeom>
          <a:solidFill>
            <a:srgbClr val="071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5486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Calibri"/>
              </a:rPr>
              <a:t>Conclusao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298448"/>
            <a:ext cx="5029200" cy="45720"/>
          </a:xfrm>
          <a:prstGeom prst="rect">
            <a:avLst/>
          </a:prstGeom>
          <a:solidFill>
            <a:srgbClr val="3D9B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1463040"/>
            <a:ext cx="54864" cy="914400"/>
          </a:xfrm>
          <a:prstGeom prst="rect">
            <a:avLst/>
          </a:prstGeom>
          <a:solidFill>
            <a:srgbClr val="3D9B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463040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Requisitos atendidos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184708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DF0"/>
                </a:solidFill>
                <a:latin typeface="Calibri"/>
              </a:rPr>
              <a:t>CRUD completo, multiplas instancias, balanceamento, identificacao por requisicao, metricas e tolerancia a falhas.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2560320"/>
            <a:ext cx="54864" cy="914400"/>
          </a:xfrm>
          <a:prstGeom prst="rect">
            <a:avLst/>
          </a:prstGeom>
          <a:solidFill>
            <a:srgbClr val="3D9B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560320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Stateless por design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94436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DF0"/>
                </a:solidFill>
                <a:latin typeface="Calibri"/>
              </a:rPr>
              <a:t>Nenhum estado em memoria local. PostgreSQL compartilhado garante consistencia entre instancias.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3657600"/>
            <a:ext cx="54864" cy="914400"/>
          </a:xfrm>
          <a:prstGeom prst="rect">
            <a:avLst/>
          </a:prstGeom>
          <a:solidFill>
            <a:srgbClr val="3D9B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3657600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Arquitetura extensivel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04164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DF0"/>
                </a:solidFill>
                <a:latin typeface="Calibri"/>
              </a:rPr>
              <a:t>Adicionar uma terceira instancia exige apenas uma linha no docker-compose.yml e uma linha no nginx.conf. Sem alteracao no codigo.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4754879"/>
            <a:ext cx="54864" cy="914400"/>
          </a:xfrm>
          <a:prstGeom prst="rect">
            <a:avLst/>
          </a:prstGeom>
          <a:solidFill>
            <a:srgbClr val="3D9B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4754879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Observabilidade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5138927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DF0"/>
                </a:solidFill>
                <a:latin typeface="Calibri"/>
              </a:rPr>
              <a:t>Dashboard em tempo real, endpoints /health e /metrics, e identificacao de instancia em toda resposta HTTP.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605332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99BB"/>
                </a:solidFill>
                <a:latin typeface="Calibri"/>
              </a:rPr>
              <a:t>Arquitetura de Software — PUC Minas | 2025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